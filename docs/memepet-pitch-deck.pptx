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89e213661d490d" /><Relationship Type="http://schemas.openxmlformats.org/officeDocument/2006/relationships/extended-properties" Target="/docProps/app.xml" Id="Rd289196aadee4afd" /><Relationship Type="http://schemas.openxmlformats.org/officeDocument/2006/relationships/officeDocument" Target="/ppt/presentation.xml" Id="Rcceeb2ae094e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c162d4a90d4998"/>
  </p:sldMasterIdLst>
  <p:notesMasterIdLst>
    <p:notesMasterId xmlns:r="http://schemas.openxmlformats.org/officeDocument/2006/relationships" r:id="R33749ba6d6d24b93"/>
  </p:notesMasterIdLst>
  <p:sldIdLst>
    <p:sldId xmlns:r="http://schemas.openxmlformats.org/officeDocument/2006/relationships" id="256" r:id="R746f5ac741e14f6a"/>
    <p:sldId xmlns:r="http://schemas.openxmlformats.org/officeDocument/2006/relationships" id="257" r:id="R04ab849c01e74f0f"/>
    <p:sldId xmlns:r="http://schemas.openxmlformats.org/officeDocument/2006/relationships" id="258" r:id="R3f5b56a21e1847ea"/>
    <p:sldId xmlns:r="http://schemas.openxmlformats.org/officeDocument/2006/relationships" id="259" r:id="R8e9ed0e3c05f46be"/>
    <p:sldId xmlns:r="http://schemas.openxmlformats.org/officeDocument/2006/relationships" id="260" r:id="R3426cf78e9094bf6"/>
    <p:sldId xmlns:r="http://schemas.openxmlformats.org/officeDocument/2006/relationships" id="261" r:id="R830436501cc249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162d4a90d4998" /><Relationship Type="http://schemas.openxmlformats.org/officeDocument/2006/relationships/theme" Target="/ppt/theme/theme1.xml" Id="R810f33f0514e4ace" /><Relationship Type="http://schemas.openxmlformats.org/officeDocument/2006/relationships/notesMaster" Target="/ppt/notesMasters/notesMaster1.xml" Id="R33749ba6d6d24b93" /><Relationship Type="http://schemas.openxmlformats.org/officeDocument/2006/relationships/presProps" Target="/ppt/presProps.xml" Id="Rc270f0c9e1d04ead" /><Relationship Type="http://schemas.openxmlformats.org/officeDocument/2006/relationships/viewProps" Target="/ppt/viewProps.xml" Id="Ra57de91d4b844e7f" /><Relationship Type="http://schemas.openxmlformats.org/officeDocument/2006/relationships/tableStyles" Target="/ppt/tableStyles.xml" Id="Re7bbdeb617f6492b" /><Relationship Type="http://schemas.openxmlformats.org/officeDocument/2006/relationships/slide" Target="/ppt/slides/slide1.xml" Id="R746f5ac741e14f6a" /><Relationship Type="http://schemas.openxmlformats.org/officeDocument/2006/relationships/slide" Target="/ppt/slides/slide2.xml" Id="R04ab849c01e74f0f" /><Relationship Type="http://schemas.openxmlformats.org/officeDocument/2006/relationships/slide" Target="/ppt/slides/slide3.xml" Id="R3f5b56a21e1847ea" /><Relationship Type="http://schemas.openxmlformats.org/officeDocument/2006/relationships/slide" Target="/ppt/slides/slide4.xml" Id="R8e9ed0e3c05f46be" /><Relationship Type="http://schemas.openxmlformats.org/officeDocument/2006/relationships/slide" Target="/ppt/slides/slide5.xml" Id="R3426cf78e9094bf6" /><Relationship Type="http://schemas.openxmlformats.org/officeDocument/2006/relationships/slide" Target="/ppt/slides/slide6.xml" Id="R830436501cc249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fd05c111a7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d0d059d6b4817" /><Relationship Type="http://schemas.openxmlformats.org/officeDocument/2006/relationships/notesMaster" Target="/ppt/notesMasters/notesMaster1.xml" Id="Rf66e3b2ae933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d509c548424bb3" /><Relationship Type="http://schemas.openxmlformats.org/officeDocument/2006/relationships/notesMaster" Target="/ppt/notesMasters/notesMaster1.xml" Id="Rd138805b16f3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d5c015b07a4857" /><Relationship Type="http://schemas.openxmlformats.org/officeDocument/2006/relationships/notesMaster" Target="/ppt/notesMasters/notesMaster1.xml" Id="Rd21ca1edad7a42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86ac86430c4565" /><Relationship Type="http://schemas.openxmlformats.org/officeDocument/2006/relationships/notesMaster" Target="/ppt/notesMasters/notesMaster1.xml" Id="Rfbbba9e90e47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91a857a29d4ff9" /><Relationship Type="http://schemas.openxmlformats.org/officeDocument/2006/relationships/notesMaster" Target="/ppt/notesMasters/notesMaster1.xml" Id="R87cecdfee85445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f2d44a94a04307" /><Relationship Type="http://schemas.openxmlformats.org/officeDocument/2006/relationships/notesMaster" Target="/ppt/notesMasters/notesMaster1.xml" Id="Rfcdea63840ee41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eebbc2a2d4c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EBAEC29-2483-4BC0-8D42-B4150D1B390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BB2F121-85C8-40C3-AC4B-B53071983C8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7C14C-0BC0-4C4E-A8B2-5EEEB10CD44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F6E20A-5B55-4A8E-9C29-6A54535DB0F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FE56B-C63E-4983-88FF-0C1DCC16574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dfd04858f5347ba" /><Relationship Type="http://schemas.openxmlformats.org/officeDocument/2006/relationships/slideLayout" Target="/ppt/slideLayouts/slideLayout2.xml" Id="R47e08f33f25e46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E067CA-F645-44AE-9987-AD1BF0F8E8A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08f33f25e46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08163464a4779" /><Relationship Type="http://schemas.openxmlformats.org/officeDocument/2006/relationships/image" Target="/ppt/media/image.png" Id="R720b324b4aff40fe" /><Relationship Type="http://schemas.openxmlformats.org/officeDocument/2006/relationships/notesSlide" Target="/ppt/notesSlides/notesSlide1.xml" Id="R62a0f238710d46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8b92c1f1324383" /><Relationship Type="http://schemas.openxmlformats.org/officeDocument/2006/relationships/notesSlide" Target="/ppt/notesSlides/notesSlide2.xml" Id="Rfbd77088454d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97dfbf650451b" /><Relationship Type="http://schemas.openxmlformats.org/officeDocument/2006/relationships/notesSlide" Target="/ppt/notesSlides/notesSlide3.xml" Id="R0b267701715049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e350b1159f495b" /><Relationship Type="http://schemas.openxmlformats.org/officeDocument/2006/relationships/notesSlide" Target="/ppt/notesSlides/notesSlide4.xml" Id="Rc291921cf4f941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61cb1eddb74ade" /><Relationship Type="http://schemas.openxmlformats.org/officeDocument/2006/relationships/notesSlide" Target="/ppt/notesSlides/notesSlide5.xml" Id="R3fe0a9ab88f44a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6b11fb74da421a" /><Relationship Type="http://schemas.openxmlformats.org/officeDocument/2006/relationships/notesSlide" Target="/ppt/notesSlides/notesSlide6.xml" Id="Rcf1e31a25c3945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FE56B-C63E-4983-88FF-0C1DCC165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1996D-2FD6-44A2-B6B0-C5F66C5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07974-1A32-4389-B765-2633592A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428750"/>
            <a:ext cx="60960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0D56E-1CB3-4655-B37F-8BC38075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59055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0F03B-BCA9-4861-AD96-AEF67BC6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5715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7AE49-B570-4089-8EB2-69C96906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265E6-1D12-459F-A9FE-02D5424F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11A82-BA2C-4FE5-86CC-C98C53E2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3E73D-832C-4EEF-B4BC-95B9A87B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9707E-AECE-4587-BC8D-27E2C05A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2C552-D92C-4BD3-8E7C-44EBA62E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188B4-C598-46BD-9AB9-CC3EDC8B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7C8C0-C25B-49A1-9183-EBF4B55A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10709-8781-4CB5-8784-AB14EEA3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CAE3E-4617-485E-ADE3-A6B56EC8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35D5F-618A-4BC7-9A37-30B16B93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43228-04B6-4146-A644-F8145B3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DD0BB-09AC-41D4-9E72-176AF6CB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F30F7-0439-4991-AA30-67BA5221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3C5F2-536C-47AE-9E99-B1B58926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CAE1C-0F37-42A4-8CBF-AD9A68B7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C2449-8484-4B25-A94F-B8027434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0597E-FE47-41B0-837D-4FD3C4D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E3D5E-B3F9-45EE-95CB-D6A15671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7576F-7872-4125-9E79-F32C0F8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FAD56-BC44-400F-A6F1-D61E8A9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D5557-B3CD-4B98-AD22-BA210C2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BD26D1-A8F0-41F8-8EFA-CAA451CB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F98D3-E9A0-4E7B-AFC9-86085A8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5BB188-56DB-451F-B742-74A5A0B9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500EC6-35B7-40DB-9775-1FE4E8B8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4EE7FD-2C78-4C3E-A643-AA8255B1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3333BE-985A-4FCD-97BF-D271FD1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72F10-E389-4815-8D51-E9B6D29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29DBA7-299A-4B4F-A479-34103A18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ACDB7-CDEF-4059-B9CD-BEA855FD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B7474A-FA54-4402-B864-B3DBE7C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8FE6B6-1214-4C6F-BA7F-DF83DA1E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0ECF83-F9A2-4261-838A-D96AB75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B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73679E-B8D3-4CD5-BFC2-5A3DE294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8235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80C18">
              <a:alpha val="85098"/>
            </a:srgbClr>
          </a:solidFill>
          <a:ln xmlns:a="http://schemas.openxmlformats.org/drawingml/2006/main" w="13335">
            <a:solidFill>
              <a:srgbClr val="FF2EC4">
                <a:alpha val="4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9603FD-6993-4BD4-9580-C5FDF76C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9060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EA6D70-89F7-425E-A4FB-4CE170C2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2781300" cy="278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b324b4aff40fe"/>
          <a:stretch xmlns:a="http://schemas.openxmlformats.org/drawingml/2006/main"/>
        </p:blipFill>
        <p:spPr>
          <a:xfrm xmlns:a="http://schemas.openxmlformats.org/drawingml/2006/main">
            <a:off x="7562850" y="11620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409341-3F58-48E9-B9EE-5D5C3F0A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2EC4"/>
                </a:solidFill>
              </a:defRPr>
            </a:pPr>
            <a:r>
              <a:rPr sz="1050" b="1">
                <a:solidFill>
                  <a:srgbClr val="FF2EC4"/>
                </a:solidFill>
              </a:rPr>
              <a:t>HACKATHON BUIDL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B2DC1B-88A8-4F99-A464-5CF51F6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7F0FF"/>
                </a:solidFill>
              </a:defRPr>
            </a:pPr>
            <a:r>
              <a:rPr sz="4950" b="1">
                <a:solidFill>
                  <a:srgbClr val="F7F0FF"/>
                </a:solidFill>
              </a:rPr>
              <a:t>MemePet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E08C17-35CF-4F02-98BA-EC30DD25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6115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5ACBE"/>
                </a:solidFill>
              </a:defRPr>
            </a:pPr>
            <a:r>
              <a:rPr sz="2025" b="0">
                <a:solidFill>
                  <a:srgbClr val="A5ACBE"/>
                </a:solidFill>
              </a:rPr>
              <a:t>Your wallet hatches a living meme-trading companion.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2980FC-5174-4E7F-84A8-F212688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6343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0FF"/>
                </a:solidFill>
              </a:defRPr>
            </a:pPr>
            <a:r>
              <a:rPr sz="1350" b="0">
                <a:solidFill>
                  <a:srgbClr val="F7F0FF"/>
                </a:solidFill>
              </a:rPr>
              <a:t>It reacts to BSC trade behavior, remembers your style, celebrates green candles, comforts red ones, and turns wallet activity into a pet you can actually care about.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545CDE-EEE8-4204-B7AD-29266E92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581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90196"/>
            </a:srgbClr>
          </a:solidFill>
          <a:ln xmlns:a="http://schemas.openxmlformats.org/drawingml/2006/main" w="13335">
            <a:solidFill>
              <a:srgbClr val="20D9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E2EBC7-A612-41FF-B723-52459155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E69397-2D7F-4C00-BFEE-6B5B6AC5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82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D9FF"/>
                </a:solidFill>
              </a:defRPr>
            </a:pPr>
            <a:r>
              <a:rPr sz="1125" b="1">
                <a:solidFill>
                  <a:srgbClr val="20D9FF"/>
                </a:solidFill>
              </a:rPr>
              <a:t>wallet DNA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8C85F6-B7BD-4916-AD72-1DE1C5A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6250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90196"/>
            </a:srgbClr>
          </a:solidFill>
          <a:ln xmlns:a="http://schemas.openxmlformats.org/drawingml/2006/main" w="13335">
            <a:solidFill>
              <a:srgbClr val="22F39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3CAC7D-F354-4FAD-8AC0-617B896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76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D4D70A-3CB1-4176-9D89-4C4BF43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482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F39A"/>
                </a:solidFill>
              </a:defRPr>
            </a:pPr>
            <a:r>
              <a:rPr sz="1125" b="1">
                <a:solidFill>
                  <a:srgbClr val="22F39A"/>
                </a:solidFill>
              </a:rPr>
              <a:t>live trade pulse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9C31E3-6A10-4BD8-967B-75214B3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62500"/>
            <a:ext cx="1733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90196"/>
            </a:srgbClr>
          </a:solidFill>
          <a:ln xmlns:a="http://schemas.openxmlformats.org/drawingml/2006/main" w="13335">
            <a:solidFill>
              <a:srgbClr val="FF2E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D9D3FB-090C-47AA-98D5-0AB1BD6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76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3C1334-B9CD-403F-85C1-A2EFC4FF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482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2EC4"/>
                </a:solidFill>
              </a:defRPr>
            </a:pPr>
            <a:r>
              <a:rPr sz="1125" b="1">
                <a:solidFill>
                  <a:srgbClr val="FF2EC4"/>
                </a:solidFill>
              </a:rPr>
              <a:t>AI agent pet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32252B-63C0-48FA-B2D5-B054283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33900"/>
            <a:ext cx="1885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A2B">
              <a:alpha val="94902"/>
            </a:srgbClr>
          </a:solidFill>
          <a:ln xmlns:a="http://schemas.openxmlformats.org/drawingml/2006/main" w="10478">
            <a:solidFill>
              <a:srgbClr val="FF2EC4">
                <a:alpha val="53333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6B7AE5-6586-4471-A923-D624EBC0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58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68B"/>
                </a:solidFill>
              </a:defRPr>
            </a:pPr>
            <a:r>
              <a:rPr sz="825" b="1">
                <a:solidFill>
                  <a:srgbClr val="6F768B"/>
                </a:solidFill>
              </a:rPr>
              <a:t>MOOD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478FBF-D776-4597-A75E-06F6CB90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2EC4"/>
                </a:solidFill>
              </a:defRPr>
            </a:pPr>
            <a:r>
              <a:rPr sz="1800" b="1">
                <a:solidFill>
                  <a:srgbClr val="FF2EC4"/>
                </a:solidFill>
              </a:rPr>
              <a:t>HYPED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878DC7-0881-45C2-8F42-6450CFD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33900"/>
            <a:ext cx="1885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A2B">
              <a:alpha val="94902"/>
            </a:srgbClr>
          </a:solidFill>
          <a:ln xmlns:a="http://schemas.openxmlformats.org/drawingml/2006/main" w="10478">
            <a:solidFill>
              <a:srgbClr val="22F39A">
                <a:alpha val="53333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648D7E-0F44-473C-9997-0B6C84E1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958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68B"/>
                </a:solidFill>
              </a:defRPr>
            </a:pPr>
            <a:r>
              <a:rPr sz="825" b="1">
                <a:solidFill>
                  <a:srgbClr val="6F768B"/>
                </a:solidFill>
              </a:rPr>
              <a:t>MEME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8487F-52D2-4D9A-BBC0-E063E9F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339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F39A"/>
                </a:solidFill>
              </a:defRPr>
            </a:pPr>
            <a:r>
              <a:rPr sz="1800" b="1">
                <a:solidFill>
                  <a:srgbClr val="22F39A"/>
                </a:solidFill>
              </a:rPr>
              <a:t>87/100</a:t>
            </a:r>
          </a:p>
        </p:txBody>
      </p:sp>
    </p:spTree>
    <p:extLst>
      <p:ext uri="{BB962C8B-B14F-4D97-AF65-F5344CB8AC3E}">
        <p14:creationId xmlns:p14="http://schemas.microsoft.com/office/powerpoint/2010/main" val="141636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FE56B-C63E-4983-88FF-0C1DCC165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C87A5-E494-42CE-B08C-3DA4E3AC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CBB76-345E-4689-8684-6791903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428750"/>
            <a:ext cx="60960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B67F8-8153-479C-B28B-28CCFA0A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59055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AC026-DA28-44B2-A076-6AAA08DD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5715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C695B-ABB2-4A72-A01C-2446EC3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DBA78-BEB1-4B4D-89E9-BAF70A8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5DC78-E828-437E-8683-715CF00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96040-4E26-4A0A-B2E8-1F755EF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559A2-893B-41A8-84D5-F5AFCE57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1F175-206B-4822-AA59-933E3961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97807-BAC4-483D-BF7B-C20FC46A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F54BF-757A-4655-A2E2-231888B6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66776-34E5-47E1-A63E-8E77E724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086C7-0437-4CD9-976D-6ACF6FF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060C8-13B1-4B4D-887B-4630D678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72E34-168D-466A-A3AA-B2DC3952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B02BA-0C7B-4EA1-B3D3-AF94BCAB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114F0-1291-4B98-8F9B-F92D6EF1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6787B-8320-4415-8D54-C7C999A0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332F4-934F-4120-B46A-3E7158FD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311CE-3E9B-4A0E-BFC3-A33ACF07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B361D-5E72-47CC-AEB6-4E48327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F677B-8D15-4789-BE03-C8616D4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6BEBD-C8C0-48D7-B450-AB3914D0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D34F5-C12D-4295-8CB2-119DCF51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9EB33-BD63-469E-91C6-EA043F1E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F9BE8-EEE2-475B-B67D-473C8FF4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9D03E-B6DF-4E0F-9B82-3E0ECD15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641F9-EAA2-4103-9652-597E59E4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C580BC-3F20-47C5-92E9-57044C57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13574D-020A-4D52-88B5-4CD29B1A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E8920-C228-426F-88E0-E933694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17AB3C-3A63-4848-AF18-332B0B53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1BF006-FEFF-492D-8BE2-A749828C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B0ED5-CA47-4DAB-9F54-02A46EEB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DBFB5-8A08-4A81-8AA5-D9CF5047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91F062-1133-4DC6-889D-10A44F4E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B32D5-C82F-4094-A63B-7942BE8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B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BA089A-C1C0-4CD0-A109-3B8DE8FF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2EC4"/>
                </a:solidFill>
              </a:defRPr>
            </a:pPr>
            <a:r>
              <a:rPr sz="1125" b="1">
                <a:solidFill>
                  <a:srgbClr val="FF2EC4"/>
                </a:solidFill>
              </a:rPr>
              <a:t>THE GAP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18B065-D99F-4372-B680-8008ADA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02 /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FA6789-7448-4947-8560-B4C46E7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41B02B-3C91-4727-8EDC-3AB421D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0FF"/>
                </a:solidFill>
              </a:defRPr>
            </a:pPr>
            <a:r>
              <a:rPr sz="3225" b="1">
                <a:solidFill>
                  <a:srgbClr val="F7F0FF"/>
                </a:solidFill>
              </a:rPr>
              <a:t>Meme trading has feelings. Tools do not.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5E500F-8DD6-4A30-8440-F2CD0C1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62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ACBE"/>
                </a:solidFill>
              </a:defRPr>
            </a:pPr>
            <a:r>
              <a:rPr sz="1500" b="0">
                <a:solidFill>
                  <a:srgbClr val="A5ACBE"/>
                </a:solidFill>
              </a:rPr>
              <a:t>Most dashboards show charts, balances, and buttons. The user is alone with FOMO, volatility, and regret.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F111B6-B4A9-4CB0-8B47-61BE29A3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3238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FF2EC4">
                <a:alpha val="5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383C47-DC42-4989-9A86-2984BA52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762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861F74-C53F-4D29-A1BF-7738816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FOMO is lonely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7EC0D7-7B2D-4D44-AD3E-83049E2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Trading decisions happen fast, but the product experience is silent until after the damage is done.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D55295-FAD9-47E1-8C1F-5F3DCF88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623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2EC4"/>
                </a:solidFill>
              </a:defRPr>
            </a:pPr>
            <a:r>
              <a:rPr sz="975" b="1">
                <a:solidFill>
                  <a:srgbClr val="FF2EC4"/>
                </a:solidFill>
              </a:rPr>
              <a:t>ape 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5A4099-87CB-4F2E-9783-C43AE063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3238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20D9FF">
                <a:alpha val="53333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3969AC-4A0D-44C1-8071-8C17A6E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4762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D83062-2278-44BC-8410-0DA5CDC3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814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P/L lacks memory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F12EE9-CB2F-42D9-BFDA-60ACCDD6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A wallet can tell a rich behavioral story, yet most apps treat every session like a cold restart.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978DF7-56AF-4A98-A57D-887BC82E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0D9FF"/>
                </a:solidFill>
              </a:defRPr>
            </a:pPr>
            <a:r>
              <a:rPr sz="975" b="1">
                <a:solidFill>
                  <a:srgbClr val="20D9FF"/>
                </a:solidFill>
              </a:rPr>
              <a:t>+32% / -27%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7D1EEC-1B40-4BFC-A2D4-65213EB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3238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22F39A">
                <a:alpha val="53333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314065-404D-4FD1-A974-5EF379D2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4762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F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423F1E-6A8C-4DCF-ABF0-7674B492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Retention needs ritual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552F49-65DF-40B5-9364-CED2EE0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78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Meme culture is emotional and social. A living pet creates habit loops that charts cannot.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FA509F-9921-4FC3-9CF8-482FC93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2F39A"/>
                </a:solidFill>
              </a:defRPr>
            </a:pPr>
            <a:r>
              <a:rPr sz="975" b="1">
                <a:solidFill>
                  <a:srgbClr val="22F39A"/>
                </a:solidFill>
              </a:rPr>
              <a:t>feed / hatch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1406A2-EB51-4BBD-B0ED-639D6C84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4775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80A1F">
              <a:alpha val="80000"/>
            </a:srgbClr>
          </a:solidFill>
          <a:ln xmlns:a="http://schemas.openxmlformats.org/drawingml/2006/main" w="11430">
            <a:solidFill>
              <a:srgbClr val="FF2EC4">
                <a:alpha val="4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EAA5C3-69A7-43F9-840A-146440C4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257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2EC4"/>
                </a:solidFill>
              </a:defRPr>
            </a:pPr>
            <a:r>
              <a:rPr sz="1050" b="1">
                <a:solidFill>
                  <a:srgbClr val="FF2EC4"/>
                </a:solidFill>
              </a:rPr>
              <a:t>Aha moment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BB6980-284F-4F48-8D80-AA8319F8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00200"/>
            <a:ext cx="251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0FF"/>
                </a:solidFill>
              </a:defRPr>
            </a:pPr>
            <a:r>
              <a:rPr sz="1875" b="1">
                <a:solidFill>
                  <a:srgbClr val="F7F0FF"/>
                </a:solidFill>
              </a:rPr>
              <a:t>The wallet is not just an address. It is pet DNA.</a:t>
            </a:r>
          </a:p>
        </p:txBody>
      </p:sp>
    </p:spTree>
    <p:extLst>
      <p:ext uri="{BB962C8B-B14F-4D97-AF65-F5344CB8AC3E}">
        <p14:creationId xmlns:p14="http://schemas.microsoft.com/office/powerpoint/2010/main" val="676212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FE56B-C63E-4983-88FF-0C1DCC165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31758-583E-4FB7-A8E3-C748B0D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FD713-29B1-492F-AEAC-46CD9F8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428750"/>
            <a:ext cx="60960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5FC49-754B-4774-84EC-2794901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59055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5EEC2-DD24-4DB2-B5D8-745CA42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5715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7C504-A353-45FC-B18E-2BE07C16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38D34-CF79-4968-B40B-F4F3E28D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6D6C5-92E1-4CC6-A4C2-3F0F0F40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7C83C-DAB7-4AC1-9B67-AC9270B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5F790-8DEF-4DB4-9750-C83FECA3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506A5-2CE0-42B5-838C-0EB0AE8A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25220-4923-4318-9A6E-3F80E9DF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1A3DF-6CCA-4321-A392-C44D8B73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068C7-E2B0-48BC-944B-041C8A0C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9C059-32A1-4917-9B4B-4EF4C190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D7201-162C-4848-8F1F-8F7F9A5E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C9AF1-1622-4AEE-A9C7-CA54272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D4E60-EC78-48CB-9D2A-BD2228CA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EE13C-4C95-4D2D-BC14-57C7F2F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681B4-5A55-4117-AE75-36BD76B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81793-B4F5-42C3-A66D-437A959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6DB76-B248-4A92-91AA-9171E594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FD8EF-048A-47B1-ACDC-710D0DC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E9554-884E-4F92-9E1A-47C398BE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AD501-77A8-4178-BAC3-C566DE43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EDBDFF-FA0D-4F48-9589-50D6C9C4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106AA-ABC4-473E-9336-2AAFA274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37CA7A-AAA8-48DC-8DE9-92AF6F04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FCC718-9C95-4B2A-B6A3-C8C67DCD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25D87-40E7-4A84-AC99-F80C382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E91360-DBE4-47EA-9DA9-390C941F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434965-172D-49AE-8540-D656D29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803D0-E61B-4758-A6B4-D4BE6CC5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65B1A5-15FF-44F7-BEB7-087106FA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3437DE-64AC-4262-B118-C74E471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0D8A44-3A8C-4A2F-9CDD-64E75A7B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43AED-E7DC-496C-A532-5522288F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8674B-5345-4E48-8E14-F06907E0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FB4D8-8C1E-4262-994D-F3FC2176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B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1B8314-1C71-4D08-BEEC-79CCC137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2EC4"/>
                </a:solidFill>
              </a:defRPr>
            </a:pPr>
            <a:r>
              <a:rPr sz="1125" b="1">
                <a:solidFill>
                  <a:srgbClr val="FF2EC4"/>
                </a:solidFill>
              </a:rPr>
              <a:t>VISION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B7D274-B764-4DB2-A8A4-42958E5F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03 /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0D2339-2066-49EA-A0E4-5F579B21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071665-C02D-4528-98FF-574A491A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0FF"/>
                </a:solidFill>
              </a:defRPr>
            </a:pPr>
            <a:r>
              <a:rPr sz="3225" b="1">
                <a:solidFill>
                  <a:srgbClr val="F7F0FF"/>
                </a:solidFill>
              </a:rPr>
              <a:t>Make on-chain behavior feel alive.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4416B9-5BD5-479E-A76E-59C7B643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62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ACBE"/>
                </a:solidFill>
              </a:defRPr>
            </a:pPr>
            <a:r>
              <a:rPr sz="1500" b="0">
                <a:solidFill>
                  <a:srgbClr val="A5ACBE"/>
                </a:solidFill>
              </a:rPr>
              <a:t>MemePet turns trading signals into emotional state, growth, appetite, personality, and companion behavior.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24DA7E-7E14-443B-A5EC-216B2AA3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A2B">
              <a:alpha val="94902"/>
            </a:srgbClr>
          </a:solidFill>
          <a:ln xmlns:a="http://schemas.openxmlformats.org/drawingml/2006/main" w="11430">
            <a:solidFill>
              <a:srgbClr val="20D9FF">
                <a:alpha val="6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51ED6C-4427-433F-AD55-A1A621B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66D4A3-B15B-41D9-8C3A-C2062F18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0FF"/>
                </a:solidFill>
              </a:defRPr>
            </a:pPr>
            <a:r>
              <a:rPr sz="1800" b="1">
                <a:solidFill>
                  <a:srgbClr val="F7F0FF"/>
                </a:solidFill>
              </a:rPr>
              <a:t>Wallet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C2C17E-63EE-4825-8A21-34EF396F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Trades, wins, losses, token taste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D8A143-1BE5-4BF3-8AB5-EC58E7B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4330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A2B">
              <a:alpha val="94902"/>
            </a:srgbClr>
          </a:solidFill>
          <a:ln xmlns:a="http://schemas.openxmlformats.org/drawingml/2006/main" w="11430">
            <a:solidFill>
              <a:srgbClr val="FF2EC4">
                <a:alpha val="6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4F628A-18F1-49EA-8A3F-5E878DEB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7EA8CE-2563-4F2E-A0A6-D27CAE0D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0FF"/>
                </a:solidFill>
              </a:defRPr>
            </a:pPr>
            <a:r>
              <a:rPr sz="1800" b="1">
                <a:solidFill>
                  <a:srgbClr val="F7F0FF"/>
                </a:solidFill>
              </a:rPr>
              <a:t>Pet DNA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CF3B57-3032-4106-AA64-58DA8AD1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Risk profile, patience, meme affinity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D403C4-26C5-4C0D-B497-7AECBCB7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4330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A2B">
              <a:alpha val="94902"/>
            </a:srgbClr>
          </a:solidFill>
          <a:ln xmlns:a="http://schemas.openxmlformats.org/drawingml/2006/main" w="11430">
            <a:solidFill>
              <a:srgbClr val="22F39A">
                <a:alpha val="6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61756A-A9CE-48CF-9C59-F60EBD7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71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FC6CE3-0D08-468F-B2B4-43BCEFF6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1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0FF"/>
                </a:solidFill>
              </a:defRPr>
            </a:pPr>
            <a:r>
              <a:rPr sz="1800" b="1">
                <a:solidFill>
                  <a:srgbClr val="F7F0FF"/>
                </a:solidFill>
              </a:rPr>
              <a:t>Living State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BF282A-0E04-488C-9CCD-4B16EC76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339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Mood, energy, satiety, level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AA9F97-968E-42BC-AA23-D15F85B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1943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A2B">
              <a:alpha val="94902"/>
            </a:srgbClr>
          </a:solidFill>
          <a:ln xmlns:a="http://schemas.openxmlformats.org/drawingml/2006/main" w="1143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9F4760-AEA7-4AF1-839F-BF7CF5C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CD8EA0-4B77-4457-B902-28D5EE13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0FF"/>
                </a:solidFill>
              </a:defRPr>
            </a:pPr>
            <a:r>
              <a:rPr sz="1800" b="1">
                <a:solidFill>
                  <a:srgbClr val="F7F0FF"/>
                </a:solidFill>
              </a:rPr>
              <a:t>Companion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7465BB-9911-4D8B-B37F-644958F3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339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Cheers, comforts, nudges, evolves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E2C9FF-52B3-4481-B8ED-9556C349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48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CE9A27-539E-4B42-BF7E-04B448C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624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2E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1F4385-F64A-4871-B4A3-3F37E4B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48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F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48FE61-3920-4799-A81C-BE012A32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624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F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7EFB60-8238-4974-BA51-E0737127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481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7957E7-4EFF-49CF-985D-C7B4020E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624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242A2D-077C-4E73-9CE5-2273CCB1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14700"/>
            <a:ext cx="1257300" cy="1809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0A13">
              <a:alpha val="90980"/>
            </a:srgbClr>
          </a:solidFill>
          <a:ln xmlns:a="http://schemas.openxmlformats.org/drawingml/2006/main" w="11430">
            <a:solidFill>
              <a:srgbClr val="20D9FF">
                <a:alpha val="40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9CB785-108E-4D40-8DCD-BC5A5F61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623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D9FF"/>
                </a:solidFill>
              </a:defRPr>
            </a:pPr>
            <a:r>
              <a:rPr sz="1050" b="1">
                <a:solidFill>
                  <a:srgbClr val="20D9FF"/>
                </a:solidFill>
              </a:rPr>
              <a:t>AGENT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DC3029-45C0-4C21-8E45-B8EC3AF9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0"/>
            <a:ext cx="914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0FF"/>
                </a:solidFill>
              </a:defRPr>
            </a:pPr>
            <a:r>
              <a:rPr sz="1200" b="0">
                <a:solidFill>
                  <a:srgbClr val="F7F0FF"/>
                </a:solidFill>
              </a:rPr>
              <a:t>observe</a:t>
            </a:r>
          </a:p>
          <a:p xmlns:a="http://schemas.openxmlformats.org/drawingml/2006/main">
            <a:pPr algn="ctr">
              <a:defRPr sz="1200" b="0">
                <a:solidFill>
                  <a:srgbClr val="F7F0FF"/>
                </a:solidFill>
              </a:defRPr>
            </a:pPr>
            <a:r>
              <a:rPr sz="1200" b="0">
                <a:solidFill>
                  <a:srgbClr val="F7F0FF"/>
                </a:solidFill>
              </a:rPr>
              <a:t>remember</a:t>
            </a:r>
          </a:p>
          <a:p xmlns:a="http://schemas.openxmlformats.org/drawingml/2006/main">
            <a:pPr algn="ctr">
              <a:defRPr sz="1200" b="0">
                <a:solidFill>
                  <a:srgbClr val="F7F0FF"/>
                </a:solidFill>
              </a:defRPr>
            </a:pPr>
            <a:r>
              <a:rPr sz="1200" b="0">
                <a:solidFill>
                  <a:srgbClr val="F7F0FF"/>
                </a:solidFill>
              </a:rPr>
              <a:t>react</a:t>
            </a:r>
          </a:p>
          <a:p xmlns:a="http://schemas.openxmlformats.org/drawingml/2006/main">
            <a:pPr algn="ctr">
              <a:defRPr sz="1200" b="0">
                <a:solidFill>
                  <a:srgbClr val="F7F0FF"/>
                </a:solidFill>
              </a:defRPr>
            </a:pPr>
            <a:r>
              <a:rPr sz="1200" b="0">
                <a:solidFill>
                  <a:srgbClr val="F7F0FF"/>
                </a:solidFill>
              </a:rPr>
              <a:t>grow</a:t>
            </a:r>
          </a:p>
        </p:txBody>
      </p:sp>
    </p:spTree>
    <p:extLst>
      <p:ext uri="{BB962C8B-B14F-4D97-AF65-F5344CB8AC3E}">
        <p14:creationId xmlns:p14="http://schemas.microsoft.com/office/powerpoint/2010/main" val="862984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FE56B-C63E-4983-88FF-0C1DCC165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ADF50-8686-4A28-B6F0-B366892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4E5B9-6A96-4497-AB0F-2C199B0C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428750"/>
            <a:ext cx="60960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BD8E-633B-4C5B-BA4A-EDFCD72D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59055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529BA-A962-41EF-9650-9548809B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5715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3FA17-E54C-46BA-907D-FC5D1B67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60E43-3ED6-424C-86AA-9B7813B3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DDF48-DD78-42F3-AED9-E3BE8BF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7CA58-C89F-498C-8843-80D23DA7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2CB77-E227-48F0-BABC-16BC79B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308E5-3F98-434D-B1C1-695C4C3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5FA16-9C5F-4D39-B5DA-2EC4FE9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0A626-4699-449B-A1DB-16BA53B4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C7CBF-40F3-4999-8CA9-F4FCF82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2A199-39EE-4957-8864-764343C7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BA01D-9BBA-4CF5-B9B6-EF44A0A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4A956-2829-4E7A-A08A-43754F63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4A108-FF5B-4DC4-B5E3-D9A1FF79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574DD-7F45-430C-B2BC-36B62311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DDA53-9DA7-4BB3-A380-9614FA50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793A1-8CD3-40E2-B479-4742176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3122B-6D02-4B47-8D12-31EFE43E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5558C-89DC-44E5-81A5-A10A12DE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319B3-F149-418A-86C3-E47F3CF8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1B805-088A-4A23-85F0-E368A88B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5D5F9-9E5C-432C-89ED-208B07F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863A2E-6EE7-4757-BA25-C289CB65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1B6EE-2B86-4510-88F9-054746B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9813B-E443-4B64-815D-6D528BF8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85A07C-81C0-4C93-80A3-3C2B099F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16E67-5886-4182-B02F-C04256B1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6B687D-4832-4028-9CC6-76D8B4B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1C648F-23B5-4846-8FF6-3E17076D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F03C4A-F216-470B-A659-686D09B9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C59796-00CD-4495-ABEA-3374D0FB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4FF61-55E9-453D-B18D-24479649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686EDD-3F3B-4AAF-810A-BE49BB8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716CC5-D603-4CCF-B8A8-2FAE5D1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403F4B-7658-4427-BD5A-EE40ED52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B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03F806-1E12-45F6-8DB5-A17F920F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2EC4"/>
                </a:solidFill>
              </a:defRPr>
            </a:pPr>
            <a:r>
              <a:rPr sz="1125" b="1">
                <a:solidFill>
                  <a:srgbClr val="FF2EC4"/>
                </a:solidFill>
              </a:rPr>
              <a:t>DEMO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999C81-4820-40BD-90E9-F23A1704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04 /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C22CD8-1878-4BCB-BF37-26CF261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0D89EA-47F6-44AE-827D-BC3C59AF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561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0FF"/>
                </a:solidFill>
              </a:defRPr>
            </a:pPr>
            <a:r>
              <a:rPr sz="3225" b="1">
                <a:solidFill>
                  <a:srgbClr val="F7F0FF"/>
                </a:solidFill>
              </a:rPr>
              <a:t>A 90-second story judges can understand instantly.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81289F-DF75-464F-8AB3-1408C472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00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ACBE"/>
                </a:solidFill>
              </a:defRPr>
            </a:pPr>
            <a:r>
              <a:rPr sz="1500" b="0">
                <a:solidFill>
                  <a:srgbClr val="A5ACBE"/>
                </a:solidFill>
              </a:rPr>
              <a:t>No giant chat box. The pet stays as a small window companion while the trader acts.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F97869-91C4-42D9-9559-EFAF391D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638300" cy="1981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1430">
            <a:solidFill>
              <a:srgbClr val="26334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A5B82C-A1F0-4D53-A454-67B22F7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9FF"/>
                </a:solidFill>
              </a:defRPr>
            </a:pPr>
            <a:r>
              <a:rPr sz="1350" b="1">
                <a:solidFill>
                  <a:srgbClr val="20D9FF"/>
                </a:solidFill>
              </a:rPr>
              <a:t>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43824F-2885-4A74-8FE6-0C4BE12A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0FF"/>
                </a:solidFill>
              </a:defRPr>
            </a:pPr>
            <a:r>
              <a:rPr sz="1725" b="1">
                <a:solidFill>
                  <a:srgbClr val="F7F0FF"/>
                </a:solidFill>
              </a:rPr>
              <a:t>Connect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F086E5-B4B2-4E67-ACDB-2C664480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Wallet connects and becomes pet DNA.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330426-712C-4E72-B0F7-9E8AF114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57550"/>
            <a:ext cx="1638300" cy="1981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1430">
            <a:solidFill>
              <a:srgbClr val="26334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F70BD8-5359-4CBA-AF09-8955BECD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671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9FF"/>
                </a:solidFill>
              </a:defRPr>
            </a:pPr>
            <a:r>
              <a:rPr sz="1350" b="1">
                <a:solidFill>
                  <a:srgbClr val="20D9FF"/>
                </a:solidFill>
              </a:rPr>
              <a:t>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D7866E-C36A-4CC7-98B1-49ADD40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24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0FF"/>
                </a:solidFill>
              </a:defRPr>
            </a:pPr>
            <a:r>
              <a:rPr sz="1725" b="1">
                <a:solidFill>
                  <a:srgbClr val="F7F0FF"/>
                </a:solidFill>
              </a:rPr>
              <a:t>Hatch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0025EE-4F4B-4EA1-BC25-82614328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005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Personality and starter mood appear.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C8FDC1-BFD5-42E4-859C-B8211492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638300" cy="1981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1430">
            <a:solidFill>
              <a:srgbClr val="FF2E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A2022D-2D63-4D95-972C-466E634B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2EC4"/>
                </a:solidFill>
              </a:defRPr>
            </a:pPr>
            <a:r>
              <a:rPr sz="1350" b="1">
                <a:solidFill>
                  <a:srgbClr val="FF2EC4"/>
                </a:solidFill>
              </a:rPr>
              <a:t>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4B9F7D-085D-4099-8E33-CA2D34A0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0FF"/>
                </a:solidFill>
              </a:defRPr>
            </a:pPr>
            <a:r>
              <a:rPr sz="1725" b="1">
                <a:solidFill>
                  <a:srgbClr val="F7F0FF"/>
                </a:solidFill>
              </a:rPr>
              <a:t>Pulse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6F5ED8-8F93-4D3D-8BDA-EBC15260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BSC-style trade events hit the cockpit.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6FF71E-FFB8-4795-946D-9FECFC68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1638300" cy="1981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1430">
            <a:solidFill>
              <a:srgbClr val="26334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267D62-3412-4590-9A6A-B8C6434C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9FF"/>
                </a:solidFill>
              </a:defRPr>
            </a:pPr>
            <a:r>
              <a:rPr sz="1350" b="1">
                <a:solidFill>
                  <a:srgbClr val="20D9FF"/>
                </a:solidFill>
              </a:rPr>
              <a:t>04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C211FB-9ADE-4ADC-89D7-CA8D8F6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0FF"/>
                </a:solidFill>
              </a:defRPr>
            </a:pPr>
            <a:r>
              <a:rPr sz="1725" b="1">
                <a:solidFill>
                  <a:srgbClr val="F7F0FF"/>
                </a:solidFill>
              </a:rPr>
              <a:t>React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F51ADC-1195-4090-9C51-1272EE55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Pet celebrates, worries, or comforts.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1634AD-593C-4336-A413-C602AEC7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638300" cy="1981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1430">
            <a:solidFill>
              <a:srgbClr val="26334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50BB45-8C90-48F5-ADB9-5022928A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9FF"/>
                </a:solidFill>
              </a:defRPr>
            </a:pPr>
            <a:r>
              <a:rPr sz="1350" b="1">
                <a:solidFill>
                  <a:srgbClr val="20D9FF"/>
                </a:solidFill>
              </a:rPr>
              <a:t>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3334B6-5FFB-4308-BB00-41B04505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0FF"/>
                </a:solidFill>
              </a:defRPr>
            </a:pPr>
            <a:r>
              <a:rPr sz="1725" b="1">
                <a:solidFill>
                  <a:srgbClr val="F7F0FF"/>
                </a:solidFill>
              </a:rPr>
              <a:t>Care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4E2FF6-CD1A-4DF5-A90B-2E82E847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Feed Market, Hot Today, Market Pulse.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93C7C6-53D6-4B07-A25D-CF4366E7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57550"/>
            <a:ext cx="1638300" cy="1981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1430">
            <a:solidFill>
              <a:srgbClr val="26334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EEE612-246E-453D-B373-518214A5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9FF"/>
                </a:solidFill>
              </a:defRPr>
            </a:pPr>
            <a:r>
              <a:rPr sz="1350" b="1">
                <a:solidFill>
                  <a:srgbClr val="20D9FF"/>
                </a:solidFill>
              </a:rPr>
              <a:t>06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329008-D497-4E8A-A9C0-98D13DAF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24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0FF"/>
                </a:solidFill>
              </a:defRPr>
            </a:pPr>
            <a:r>
              <a:rPr sz="1725" b="1">
                <a:solidFill>
                  <a:srgbClr val="F7F0FF"/>
                </a:solidFill>
              </a:rPr>
              <a:t>Mint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4AF828-A6B1-4869-BFFB-1777BC23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0055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On-chain identity becomes shareable.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623195-5BE8-4570-896D-3AACD24A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00150"/>
            <a:ext cx="3924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9131F">
              <a:alpha val="93333"/>
            </a:srgbClr>
          </a:solidFill>
          <a:ln xmlns:a="http://schemas.openxmlformats.org/drawingml/2006/main" w="12383">
            <a:solidFill>
              <a:srgbClr val="22F39A">
                <a:alpha val="40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0E2536-4FED-4D1B-A5B3-1826344E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2EC4"/>
                </a:solidFill>
              </a:defRPr>
            </a:pPr>
            <a:r>
              <a:rPr sz="1050" b="1">
                <a:solidFill>
                  <a:srgbClr val="FF2EC4"/>
                </a:solidFill>
              </a:rPr>
              <a:t>LIVE TRADE PULSE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39BE0A7-A522-4465-A03C-9C7BD185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F39A"/>
                </a:solidFill>
              </a:defRPr>
            </a:pPr>
            <a:r>
              <a:rPr sz="1950" b="1">
                <a:solidFill>
                  <a:srgbClr val="22F39A"/>
                </a:solidFill>
              </a:rPr>
              <a:t>+32% GREEN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2E097C-6252-4A0B-9FC2-6252F71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ACBE"/>
                </a:solidFill>
              </a:defRPr>
            </a:pPr>
            <a:r>
              <a:rPr sz="1050" b="0">
                <a:solidFill>
                  <a:srgbClr val="A5ACBE"/>
                </a:solidFill>
              </a:rPr>
              <a:t>tail spinning, XP +18</a:t>
            </a:r>
          </a:p>
        </p:txBody>
      </p:sp>
    </p:spTree>
    <p:extLst>
      <p:ext uri="{BB962C8B-B14F-4D97-AF65-F5344CB8AC3E}">
        <p14:creationId xmlns:p14="http://schemas.microsoft.com/office/powerpoint/2010/main" val="12409176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FE56B-C63E-4983-88FF-0C1DCC165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B03BA-B745-46CA-AC3A-127A1FAD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2C0A2-76FF-4A05-9620-8E949FDE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428750"/>
            <a:ext cx="60960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D79FF-FB07-4384-9E45-AF7F00D6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59055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D4A71-7C9A-4B0B-82DD-01654AB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5715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B36E6-F50C-41C2-84A6-97B2ABE8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FCE23-1C5A-4C9D-B42E-2021259E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309CC-EB8A-44E6-9DA7-002E9EA8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EDF77-87F8-4620-AC31-A8F16127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F5714-C1CB-4201-AEAA-F74821D0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6960A-6A1A-4632-A0EF-C03ABFCA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A0E9B-7B03-4520-B476-17332FAC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087B5-CEE1-44E4-B624-B6C8760A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D227B-F5FA-46AF-AD9F-45FF80DB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47852-A3B1-45B8-9E77-DA87C7C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7243B-EAE6-4E2A-95DD-6D633FC4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B7FAE-7176-4D62-908C-C02685B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60827-86C2-4FAE-BBDC-4B7752E1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C08A1-4B02-4FC0-B710-712580B4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28682-8CD7-4535-9783-097BEE4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6C1DC-A4D7-48DF-A99C-532C4231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DB5A1-330C-49BD-8464-310B8D71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DB689-9E17-4237-8114-048C83C6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F14A7-90F0-4355-841F-D369AA9D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BB4B3-9E51-4CEB-9A67-F5737FE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4A86B-31D2-4BDB-B606-FC0F22F3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52C7A-CB42-4B1C-8A91-E822DD97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6E0A0-6686-4390-B6BF-9ED3DB57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CD6F2-BBD6-4790-948E-AF7440A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3CF31-348E-43A0-8B8D-5E5D9C5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23B9C9-8535-4780-B160-847691D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9BD395-9328-4B45-9CD2-8AA9FB7E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9C270-DF33-4432-8BB9-A94D3095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C159C0-9B60-4707-BB01-074C5E32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BEFF37-5691-4E3A-8F06-B3C67856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BDC7E1-1C61-4A6B-9244-7AAAF577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A59D6C-E569-4AE2-9AC1-CF5C1F5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A0DBF3-285B-4591-9073-EC1E330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41D13E-F30D-45BF-9F31-A5802660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B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866EE2-31F8-491A-9315-731D790E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2EC4"/>
                </a:solidFill>
              </a:defRPr>
            </a:pPr>
            <a:r>
              <a:rPr sz="1125" b="1">
                <a:solidFill>
                  <a:srgbClr val="FF2EC4"/>
                </a:solidFill>
              </a:rPr>
              <a:t>AI 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BC2385-72C8-41FC-B6E2-C56C73F3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05 /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F175CD-E4F3-40A9-83CD-3682C9FF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A4AB87-3B32-4F15-AACD-2B348A8F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590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0FF"/>
                </a:solidFill>
              </a:defRPr>
            </a:pPr>
            <a:r>
              <a:rPr sz="3225" b="1">
                <a:solidFill>
                  <a:srgbClr val="F7F0FF"/>
                </a:solidFill>
              </a:rPr>
              <a:t>Yes. MemePet is an AI agent, not a chatbot skin.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0A96F3-5A63-47FF-B769-8E41350B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28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ACBE"/>
                </a:solidFill>
              </a:defRPr>
            </a:pPr>
            <a:r>
              <a:rPr sz="1500" b="0">
                <a:solidFill>
                  <a:srgbClr val="A5ACBE"/>
                </a:solidFill>
              </a:rPr>
              <a:t>It perceives wallet and trade events, keeps memory, reasons over state, and acts through pet behavior and care loops.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06CAD2-7877-43D4-A2C8-209EAAE9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45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20D9FF">
                <a:alpha val="5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9A6705-ECDD-4DB5-98D2-08FDA36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C051E8-7D0A-4CE8-A954-238A891C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Perception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4C2C86-035A-4493-92C1-EC6C93E8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Reads wallet-connected behavior and live trade pulse events.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B34007-E289-47DB-9C25-DF335DE4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245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FF2EC4">
                <a:alpha val="53333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73BEB6-949D-4D76-9FE9-0A1418E0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F419EB-6DD8-475E-97CF-6C2792C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43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2DC006-7B8F-4E04-B89E-11CC5A0F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6240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Stores pet personality, goals, XP, mood, satiety, and interaction history.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830249-B391-4288-A1E8-27353C11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45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FFD166">
                <a:alpha val="53333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B63CD1-8C63-4535-833F-79D068D3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FE456A-A196-40CF-A844-990DAC4C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Reasoning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CABB44-1E9F-439A-9BB9-048788DD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6240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Maps trader behavior into emotional state and companion response.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635D58-1386-49F8-B441-FBCDA13A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45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22F39A">
                <a:alpha val="53333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5E51AF-50DF-44D4-9359-CE37FA82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F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93835C-8DFC-4077-BC68-7471D703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Action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CF0FBD-7E76-4459-8A52-28834097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Changes UI state, gives tiny companion messages, rewards, and care prompts.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966CEB-7544-41A3-86B2-4BCFC757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1920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020">
              <a:alpha val="90196"/>
            </a:srgbClr>
          </a:solidFill>
          <a:ln xmlns:a="http://schemas.openxmlformats.org/drawingml/2006/main" w="11430">
            <a:solidFill>
              <a:srgbClr val="FF2EC4">
                <a:alpha val="4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BD3AD1-7E0F-4D44-80AE-255B3A2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EC4"/>
                </a:solidFill>
              </a:defRPr>
            </a:pPr>
            <a:r>
              <a:rPr sz="975" b="1">
                <a:solidFill>
                  <a:srgbClr val="FF2EC4"/>
                </a:solidFill>
              </a:rPr>
              <a:t>BUIDL answer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B47888-0154-42ED-873A-54FC2277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0FF"/>
                </a:solidFill>
              </a:defRPr>
            </a:pPr>
            <a:r>
              <a:rPr sz="1350" b="1">
                <a:solidFill>
                  <a:srgbClr val="F7F0FF"/>
                </a:solidFill>
              </a:rPr>
              <a:t>Yes: observes, remembers, reasons, and acts.</a:t>
            </a:r>
          </a:p>
        </p:txBody>
      </p:sp>
    </p:spTree>
    <p:extLst>
      <p:ext uri="{BB962C8B-B14F-4D97-AF65-F5344CB8AC3E}">
        <p14:creationId xmlns:p14="http://schemas.microsoft.com/office/powerpoint/2010/main" val="2138611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FE56B-C63E-4983-88FF-0C1DCC165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1A2F0-1BF4-43BE-BCDE-908C709F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0D806-6D2F-47C8-BE8D-7FBBA7D2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428750"/>
            <a:ext cx="60960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C4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C6BDE-2D68-4BFF-B4E4-3FDD8291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59055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C3BAE-77E0-4DDE-98C4-7CC74F74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5715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F39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E56CA-DB8B-4D6A-B103-0EA0B07E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0852B-C8D6-4BCE-B0EE-6433F10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4B67C-4D4B-472B-A42B-B962C79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AFE2B-9BF5-40B7-832D-C0067D2B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96EA7-1B6B-4A56-9E4B-EC7308CD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3FCC9-C91F-43C0-88BF-080B3881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13AD5-F0BD-4B0C-A5AB-9CBB85DB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FA873-6F27-41A8-9E8F-182172B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CE1A8-D5CE-4EB1-B65D-53543B4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19C52-6718-44B5-958E-6909B304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FA336-CB54-46C1-ABD9-E7173788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BB08D-F791-4826-9B37-E3E39A2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6BA79-BA22-4219-AD30-7A49850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63931-0A1D-425F-9ACD-4BF5BA5C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B3504-81C9-48AB-A44C-B057A8C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3A91D-CDA4-4699-B1EE-3F4613DD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FD42F-A7A2-4776-8132-F9E66A0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A6DEF-C043-4699-86C4-B2223DE3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8A5A4-7C18-4213-8C0E-F0F447F4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22707-F64B-4FAB-8564-84A012C7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6A578-89DB-4936-B137-689FECF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DDB696-A140-40AE-95CB-773625B1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E056D-D05E-463D-BB93-37F3D442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061091-6BAB-4085-9B1B-97E3587E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6CAD50-CC2F-4E8C-AA3B-89488B89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E8A2C-3D13-44C4-B68C-79C4E20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6910F-EACF-4705-B6E9-0A111BC9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A1892-3E0D-4471-A0A1-29193478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5705F-79BA-4FB4-B319-B08C4BB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C0261-274C-4DC8-9E37-A98308D7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AD0CAC-2AB7-41C5-9B12-58081608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0205C9-C909-4FE1-A035-CDCDF340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458048-7AB1-411A-BEEE-329ECF68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A7E9AF-C90A-496B-B3B9-6E8F5A55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B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3CCB2E-B899-4679-9523-CC615702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2EC4"/>
                </a:solidFill>
              </a:defRPr>
            </a:pPr>
            <a:r>
              <a:rPr sz="1125" b="1">
                <a:solidFill>
                  <a:srgbClr val="FF2EC4"/>
                </a:solidFill>
              </a:rPr>
              <a:t>WHAT WE SUBMIT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1ABF4F-84BC-44B0-BF92-736F3597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ACBE"/>
                </a:solidFill>
              </a:defRPr>
            </a:pPr>
            <a:r>
              <a:rPr sz="975" b="0">
                <a:solidFill>
                  <a:srgbClr val="A5ACBE"/>
                </a:solidFill>
              </a:rPr>
              <a:t>06 /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087AB2-8BB1-4710-859E-0C40E488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82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D0C5AE-72E4-4F9B-9827-6EFB9E1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590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0FF"/>
                </a:solidFill>
              </a:defRPr>
            </a:pPr>
            <a:r>
              <a:rPr sz="3225" b="1">
                <a:solidFill>
                  <a:srgbClr val="F7F0FF"/>
                </a:solidFill>
              </a:rPr>
              <a:t>A polished MVP with a credible path to production.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B70C47-82CD-4106-843E-A8FF8D67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28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ACBE"/>
                </a:solidFill>
              </a:defRPr>
            </a:pPr>
            <a:r>
              <a:rPr sz="1500" b="0">
                <a:solidFill>
                  <a:srgbClr val="A5ACBE"/>
                </a:solidFill>
              </a:rPr>
              <a:t>The current build is demo-ready. The next milestone is live BSC data, wallet persistence, and mintable pet identity.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66C20-073D-4F40-8AC9-45EF148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1623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22F39A">
                <a:alpha val="5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49772C-F29C-4806-9B49-380CEF78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F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A380F5-CB71-4B54-9463-70B5D225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Ready now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448C2A-DF51-4F74-8D16-D8D0F2B5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7051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Unified hatch-to-cockpit UI, living pet metrics, BSC-style event simulation, care actions, logo, README, demo script, and pitch deck.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41C22B-C368-48D6-8D5E-84EF70A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147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2F39A"/>
                </a:solidFill>
              </a:defRPr>
            </a:pPr>
            <a:r>
              <a:rPr sz="975" b="1">
                <a:solidFill>
                  <a:srgbClr val="22F39A"/>
                </a:solidFill>
              </a:rPr>
              <a:t>MVP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538B52-6961-4FEA-9DA0-A254D58F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31623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20D9FF">
                <a:alpha val="53333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170CF4-10E8-414C-92F9-CE48A2B0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F7F3AE-5573-40E3-B8DA-3C0DB6C3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Next hardening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3D354E-39CC-42A4-B13C-4C3D29E8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52850"/>
            <a:ext cx="27051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Connect real wallet events, persist memory per address, tune state transitions, add guardrails for trading-friendly companionship.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BB011A-CB93-48C9-90D2-0D8C838F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147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0D9FF"/>
                </a:solidFill>
              </a:defRPr>
            </a:pPr>
            <a:r>
              <a:rPr sz="975" b="1">
                <a:solidFill>
                  <a:srgbClr val="20D9FF"/>
                </a:solidFill>
              </a:rPr>
              <a:t>build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A78AAB-3064-4B57-B085-0D44599A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31623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B1020">
              <a:alpha val="90980"/>
            </a:srgbClr>
          </a:solidFill>
          <a:ln xmlns:a="http://schemas.openxmlformats.org/drawingml/2006/main" w="12383">
            <a:solidFill>
              <a:srgbClr val="FF2EC4">
                <a:alpha val="53333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0D52A3-BB0B-473B-83AD-6EEE2B17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EBF53A-C856-488B-992D-329B501D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0FF"/>
                </a:solidFill>
              </a:defRPr>
            </a:pPr>
            <a:r>
              <a:rPr sz="1575" b="1">
                <a:solidFill>
                  <a:srgbClr val="F7F0FF"/>
                </a:solidFill>
              </a:rPr>
              <a:t>Judge takeaway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993E66-8F4B-43B1-A667-F7CF63D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27051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ACBE"/>
                </a:solidFill>
              </a:defRPr>
            </a:pPr>
            <a:r>
              <a:rPr sz="1200" b="0">
                <a:solidFill>
                  <a:srgbClr val="A5ACBE"/>
                </a:solidFill>
              </a:rPr>
              <a:t>A meme trading companion that makes chain activity emotionally legible. Not a dashboard. Not another oversized chat window.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F7BA6A-451E-475B-B877-EADEB67F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147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2EC4"/>
                </a:solidFill>
              </a:defRPr>
            </a:pPr>
            <a:r>
              <a:rPr sz="975" b="1">
                <a:solidFill>
                  <a:srgbClr val="FF2EC4"/>
                </a:solidFill>
              </a:rPr>
              <a:t>aha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637F3A-8B84-45F1-9B21-6A5E15F8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00150"/>
            <a:ext cx="3371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1B2D">
              <a:alpha val="93333"/>
            </a:srgbClr>
          </a:solidFill>
          <a:ln xmlns:a="http://schemas.openxmlformats.org/drawingml/2006/main" w="11430">
            <a:solidFill>
              <a:srgbClr val="FFD166">
                <a:alpha val="46667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09FE65-750D-4147-B46C-7CA7D59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906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</a:defRPr>
            </a:pPr>
            <a:r>
              <a:rPr sz="975" b="1">
                <a:solidFill>
                  <a:srgbClr val="FFD166"/>
                </a:solidFill>
              </a:rPr>
              <a:t>One sentence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FD979C-23E0-46F0-BE05-48908E8C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2647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0FF"/>
                </a:solidFill>
              </a:defRPr>
            </a:pPr>
            <a:r>
              <a:rPr sz="1350" b="1">
                <a:solidFill>
                  <a:srgbClr val="F7F0FF"/>
                </a:solidFill>
              </a:rPr>
              <a:t>A wallet should hatch a companion, not just hold trades.</a:t>
            </a:r>
          </a:p>
        </p:txBody>
      </p:sp>
    </p:spTree>
    <p:extLst>
      <p:ext uri="{BB962C8B-B14F-4D97-AF65-F5344CB8AC3E}">
        <p14:creationId xmlns:p14="http://schemas.microsoft.com/office/powerpoint/2010/main" val="1872802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2026-04-20T04:05:53.2500000Z</dcterms:created>
  <dcterms:modified xsi:type="dcterms:W3CDTF">2026-04-20T04:05:53.2500000Z</dcterms:modified>
</coreProperties>
</file>